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6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7" roundtripDataSignature="AMtx7mjYgfHwc6e2uyLsSA+BVeXSjIc9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EC7C26-FA12-4830-92E2-8A10BDDFFEFE}" v="217" dt="2026-09-15T19:57:10.852"/>
    <p1510:client id="{20D23780-BA80-480A-957D-35676C83D256}" v="312" dt="2026-09-16T18:15:49.894"/>
    <p1510:client id="{C78ADE2B-2E5D-4A67-A663-D4AC1B52696F}" v="441" dt="2026-09-16T04:54:46.785"/>
    <p1510:client id="{CF4DC66E-486A-43DE-895B-24F65215F3CF}" v="282" dt="2026-09-15T19:51:26.376"/>
  </p1510:revLst>
</p1510:revInfo>
</file>

<file path=ppt/tableStyles.xml><?xml version="1.0" encoding="utf-8"?>
<a:tblStyleLst xmlns:a="http://schemas.openxmlformats.org/drawingml/2006/main" def="{9321EDAF-7F3C-46AB-9279-067C1E24632B}">
  <a:tblStyle styleId="{9321EDAF-7F3C-46AB-9279-067C1E24632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dirty="0"/>
            </a:br>
            <a:endParaRPr lang="en-US"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8DB6B6FB-7BF2-1661-3136-3C975822D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>
            <a:extLst>
              <a:ext uri="{FF2B5EF4-FFF2-40B4-BE49-F238E27FC236}">
                <a16:creationId xmlns:a16="http://schemas.microsoft.com/office/drawing/2014/main" id="{1E9F4638-AAAE-5E3B-443B-A1ECE2E49E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:notes">
            <a:extLst>
              <a:ext uri="{FF2B5EF4-FFF2-40B4-BE49-F238E27FC236}">
                <a16:creationId xmlns:a16="http://schemas.microsoft.com/office/drawing/2014/main" id="{2D9225BC-1B73-8076-0781-483E20D0C5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72244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a6dfb2a8e_1_2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fa6dfb2a8e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1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a6dfb2a8e_1_2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 err="1"/>
              <a:t>Android.app.admin.DeviceAdminReceiver</a:t>
            </a:r>
          </a:p>
          <a:p>
            <a:pPr marL="0" indent="0">
              <a:buNone/>
            </a:pPr>
            <a:r>
              <a:rPr lang="en-US" dirty="0"/>
              <a:t>Device policy </a:t>
            </a:r>
            <a:r>
              <a:rPr lang="en-US"/>
              <a:t>manager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Factory reset </a:t>
            </a:r>
            <a:r>
              <a:rPr lang="en-US" dirty="0" err="1"/>
              <a:t>protectionPolicy</a:t>
            </a:r>
          </a:p>
          <a:p>
            <a:pPr marL="0" indent="0">
              <a:buNone/>
            </a:pPr>
            <a:r>
              <a:rPr lang="en-US" dirty="0" err="1"/>
              <a:t>ComponentName</a:t>
            </a:r>
          </a:p>
        </p:txBody>
      </p:sp>
      <p:sp>
        <p:nvSpPr>
          <p:cNvPr id="174" name="Google Shape;174;g3fa6dfb2a8e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1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a6dfb2a8e_1_3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using incremental learning, shadow developments, or pridiotic retraining pipeline </a:t>
            </a:r>
            <a:endParaRPr/>
          </a:p>
        </p:txBody>
      </p:sp>
      <p:sp>
        <p:nvSpPr>
          <p:cNvPr id="180" name="Google Shape;180;g3fa6dfb2a8e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100" cy="360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rtunebusinessinsights.com/buy-now-pay-later-market-106408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brecorder.com/news/40403130/local-mobile-phone-production-hits-3021mn-units-in-2025" TargetMode="External"/><Relationship Id="rId4" Type="http://schemas.openxmlformats.org/officeDocument/2006/relationships/hyperlink" Target="https://www.dawn.com/news/1403070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Final Year Project Proposal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lang="en-US"/>
              <a:t>OmniLend</a:t>
            </a:r>
            <a:endParaRPr/>
          </a:p>
          <a:p>
            <a:pPr marL="63500" lvl="0" indent="0" algn="ctr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</a:pPr>
            <a:r>
              <a:rPr lang="en-US" sz="1400"/>
              <a:t>Supervised By: Mr. Islam Abbasi (Lecturer)</a:t>
            </a:r>
            <a:endParaRPr sz="1400"/>
          </a:p>
        </p:txBody>
      </p:sp>
      <p:pic>
        <p:nvPicPr>
          <p:cNvPr id="86" name="Google Shape;86;p1" descr="Riphah.jpg"/>
          <p:cNvPicPr preferRelativeResize="0"/>
          <p:nvPr/>
        </p:nvPicPr>
        <p:blipFill rotWithShape="1">
          <a:blip r:embed="rId4">
            <a:alphaModFix/>
          </a:blip>
          <a:srcRect l="3033" t="4065" r="6926" b="4926"/>
          <a:stretch/>
        </p:blipFill>
        <p:spPr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Team</a:t>
            </a:r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Ahsan Abbas   (53143)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M. Farhan Ijaz (52999)</a:t>
            </a:r>
            <a:endParaRPr dirty="0"/>
          </a:p>
          <a:p>
            <a:pPr marL="34290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Rohail Abbas   (54729)</a:t>
            </a:r>
            <a:endParaRPr dirty="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of Content</a:t>
            </a:r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Opportunity &amp; Stakeholders</a:t>
            </a:r>
            <a:endParaRPr lang="en-US"/>
          </a:p>
          <a:p>
            <a:pPr marL="34290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Existing Systems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Problem Statement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Proposed Solution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Project Scope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OPPORTUNITY &amp; STAKEHOLDERS</a:t>
            </a:r>
            <a:endParaRPr/>
          </a:p>
        </p:txBody>
      </p:sp>
      <p:sp>
        <p:nvSpPr>
          <p:cNvPr id="104" name="Google Shape;104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Opportunity</a:t>
            </a:r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777240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global BNPL and installment software market has reached up to 54.5B $ with 23% growth rate.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Pakistan has over 100 million unbanked adults, and credit card usage is near zero (0.22%).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In 2025, Pakistan locally assembled over 30.2 million mobile phones (52% being smartphones).</a:t>
            </a:r>
            <a:endParaRPr/>
          </a:p>
        </p:txBody>
      </p:sp>
      <p:sp>
        <p:nvSpPr>
          <p:cNvPr id="111" name="Google Shape;111;p5"/>
          <p:cNvSpPr txBox="1"/>
          <p:nvPr/>
        </p:nvSpPr>
        <p:spPr>
          <a:xfrm>
            <a:off x="1330300" y="6155550"/>
            <a:ext cx="66057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rgbClr val="2200CC"/>
                </a:solidFill>
                <a:highlight>
                  <a:schemeClr val="lt1"/>
                </a:highligh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https://www.fortunebusinessinsights.com/buy-now-pay-later-market-106408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u="sng">
                <a:solidFill>
                  <a:srgbClr val="2200CC"/>
                </a:solidFill>
                <a:highlight>
                  <a:schemeClr val="lt1"/>
                </a:highligh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https://www.dawn.com/news/1403070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chemeClr val="hlink"/>
                </a:solidFill>
                <a:highlight>
                  <a:schemeClr val="lt1"/>
                </a:highlight>
                <a:hlinkClick r:id="rId5"/>
              </a:rPr>
              <a:t>https://www.brecorder.com/news/40403130/local-mobile-phone-production-hits-3021mn-units-in-2025</a:t>
            </a: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Opportunity</a:t>
            </a:r>
            <a:endParaRPr/>
          </a:p>
        </p:txBody>
      </p:sp>
      <p:sp>
        <p:nvSpPr>
          <p:cNvPr id="117" name="Google Shape;117;p6"/>
          <p:cNvSpPr txBox="1">
            <a:spLocks noGrp="1"/>
          </p:cNvSpPr>
          <p:nvPr>
            <p:ph type="body" idx="1"/>
          </p:nvPr>
        </p:nvSpPr>
        <p:spPr>
          <a:xfrm>
            <a:off x="685800" y="1323750"/>
            <a:ext cx="7772400" cy="4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just">
              <a:spcBef>
                <a:spcPts val="0"/>
              </a:spcBef>
              <a:buChar char="●"/>
            </a:pPr>
            <a:r>
              <a:rPr lang="en-US" dirty="0"/>
              <a:t>The shopkeeper has no digital way to check if a customer can pay or not, especially that are new in this industry.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Many customers are unable to purchase phones through installment plans because they fail to establish sufficient trust with the shopkeeper.</a:t>
            </a:r>
            <a:endParaRPr dirty="0"/>
          </a:p>
          <a:p>
            <a:pPr marL="4572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The system relies on paper for sale.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Stakeholders</a:t>
            </a:r>
            <a:endParaRPr dirty="0"/>
          </a:p>
        </p:txBody>
      </p:sp>
      <p:sp>
        <p:nvSpPr>
          <p:cNvPr id="123" name="Google Shape;123;p7"/>
          <p:cNvSpPr txBox="1">
            <a:spLocks noGrp="1"/>
          </p:cNvSpPr>
          <p:nvPr>
            <p:ph type="body" idx="1"/>
          </p:nvPr>
        </p:nvSpPr>
        <p:spPr>
          <a:xfrm>
            <a:off x="762000" y="1550492"/>
            <a:ext cx="777240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/>
              <a:t>Admin</a:t>
            </a:r>
            <a:endParaRPr lang="en-US" dirty="0"/>
          </a:p>
          <a:p>
            <a:pPr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/>
              <a:t>Tenant Owner </a:t>
            </a:r>
            <a:endParaRPr sz="2800" dirty="0"/>
          </a:p>
          <a:p>
            <a:pPr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 dirty="0"/>
              <a:t>Tenant Branch Manager</a:t>
            </a:r>
            <a:endParaRPr sz="2800" dirty="0"/>
          </a:p>
          <a:p>
            <a:pPr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dirty="0"/>
              <a:t>Tenant Employee</a:t>
            </a:r>
            <a:endParaRPr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EXISTING SYSTEMS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116C2-9E96-B174-231C-20A8C5F7F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Existing Systems </a:t>
            </a:r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B004D8-371F-DAFD-664E-9BBCD3040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226378"/>
              </p:ext>
            </p:extLst>
          </p:nvPr>
        </p:nvGraphicFramePr>
        <p:xfrm>
          <a:off x="342736" y="1414954"/>
          <a:ext cx="8457243" cy="3940175"/>
        </p:xfrm>
        <a:graphic>
          <a:graphicData uri="http://schemas.openxmlformats.org/drawingml/2006/table">
            <a:tbl>
              <a:tblPr bandRow="1">
                <a:tableStyleId>{9321EDAF-7F3C-46AB-9279-067C1E24632B}</a:tableStyleId>
              </a:tblPr>
              <a:tblGrid>
                <a:gridCol w="1384878">
                  <a:extLst>
                    <a:ext uri="{9D8B030D-6E8A-4147-A177-3AD203B41FA5}">
                      <a16:colId xmlns:a16="http://schemas.microsoft.com/office/drawing/2014/main" val="988872938"/>
                    </a:ext>
                  </a:extLst>
                </a:gridCol>
                <a:gridCol w="929576">
                  <a:extLst>
                    <a:ext uri="{9D8B030D-6E8A-4147-A177-3AD203B41FA5}">
                      <a16:colId xmlns:a16="http://schemas.microsoft.com/office/drawing/2014/main" val="3446996296"/>
                    </a:ext>
                  </a:extLst>
                </a:gridCol>
                <a:gridCol w="939061">
                  <a:extLst>
                    <a:ext uri="{9D8B030D-6E8A-4147-A177-3AD203B41FA5}">
                      <a16:colId xmlns:a16="http://schemas.microsoft.com/office/drawing/2014/main" val="775703616"/>
                    </a:ext>
                  </a:extLst>
                </a:gridCol>
                <a:gridCol w="1136039">
                  <a:extLst>
                    <a:ext uri="{9D8B030D-6E8A-4147-A177-3AD203B41FA5}">
                      <a16:colId xmlns:a16="http://schemas.microsoft.com/office/drawing/2014/main" val="3730083987"/>
                    </a:ext>
                  </a:extLst>
                </a:gridCol>
                <a:gridCol w="673464">
                  <a:extLst>
                    <a:ext uri="{9D8B030D-6E8A-4147-A177-3AD203B41FA5}">
                      <a16:colId xmlns:a16="http://schemas.microsoft.com/office/drawing/2014/main" val="1736914061"/>
                    </a:ext>
                  </a:extLst>
                </a:gridCol>
                <a:gridCol w="846119">
                  <a:extLst>
                    <a:ext uri="{9D8B030D-6E8A-4147-A177-3AD203B41FA5}">
                      <a16:colId xmlns:a16="http://schemas.microsoft.com/office/drawing/2014/main" val="2981201363"/>
                    </a:ext>
                  </a:extLst>
                </a:gridCol>
                <a:gridCol w="895992">
                  <a:extLst>
                    <a:ext uri="{9D8B030D-6E8A-4147-A177-3AD203B41FA5}">
                      <a16:colId xmlns:a16="http://schemas.microsoft.com/office/drawing/2014/main" val="1137339874"/>
                    </a:ext>
                  </a:extLst>
                </a:gridCol>
                <a:gridCol w="934232">
                  <a:extLst>
                    <a:ext uri="{9D8B030D-6E8A-4147-A177-3AD203B41FA5}">
                      <a16:colId xmlns:a16="http://schemas.microsoft.com/office/drawing/2014/main" val="316379678"/>
                    </a:ext>
                  </a:extLst>
                </a:gridCol>
                <a:gridCol w="717882">
                  <a:extLst>
                    <a:ext uri="{9D8B030D-6E8A-4147-A177-3AD203B41FA5}">
                      <a16:colId xmlns:a16="http://schemas.microsoft.com/office/drawing/2014/main" val="977033897"/>
                    </a:ext>
                  </a:extLst>
                </a:gridCol>
              </a:tblGrid>
              <a:tr h="1085717"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Feature / Capability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PayJoy – Maccio 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NuovoPay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Datacultr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Odoo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FQMS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Trustonic 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ChargeAfter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ERPNext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491767"/>
                  </a:ext>
                </a:extLst>
              </a:tr>
              <a:tr h="364873"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Retail Inventory 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 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 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 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 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773683"/>
                  </a:ext>
                </a:extLst>
              </a:tr>
              <a:tr h="444967"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Guarantor Tracking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 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✓ </a:t>
                      </a:r>
                    </a:p>
                    <a:p>
                      <a:pPr marL="0" marR="0" lvl="0" indent="0" algn="ctr">
                        <a:buNone/>
                      </a:pP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311256"/>
                  </a:ext>
                </a:extLst>
              </a:tr>
              <a:tr h="364873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HR Mgmt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 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028436"/>
                  </a:ext>
                </a:extLst>
              </a:tr>
              <a:tr h="605156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Centralized Pricing and Promotions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549988"/>
                  </a:ext>
                </a:extLst>
              </a:tr>
              <a:tr h="605156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Mobile Accessibility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823190"/>
                  </a:ext>
                </a:extLst>
              </a:tr>
              <a:tr h="427168"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Pre-Sale AI Risk Prediction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 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 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 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55875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14A01EB8-3B45-DCFF-4D41-B41242A69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>
            <a:extLst>
              <a:ext uri="{FF2B5EF4-FFF2-40B4-BE49-F238E27FC236}">
                <a16:creationId xmlns:a16="http://schemas.microsoft.com/office/drawing/2014/main" id="{AE885EF4-5E59-E567-6F71-C808E5BE5F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Existing Systems </a:t>
            </a:r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174476-7A54-9260-3816-10C454203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614075"/>
              </p:ext>
            </p:extLst>
          </p:nvPr>
        </p:nvGraphicFramePr>
        <p:xfrm>
          <a:off x="455950" y="1417766"/>
          <a:ext cx="8457233" cy="3618904"/>
        </p:xfrm>
        <a:graphic>
          <a:graphicData uri="http://schemas.openxmlformats.org/drawingml/2006/table">
            <a:tbl>
              <a:tblPr bandRow="1">
                <a:tableStyleId>{9321EDAF-7F3C-46AB-9279-067C1E24632B}</a:tableStyleId>
              </a:tblPr>
              <a:tblGrid>
                <a:gridCol w="1384878">
                  <a:extLst>
                    <a:ext uri="{9D8B030D-6E8A-4147-A177-3AD203B41FA5}">
                      <a16:colId xmlns:a16="http://schemas.microsoft.com/office/drawing/2014/main" val="2214314197"/>
                    </a:ext>
                  </a:extLst>
                </a:gridCol>
                <a:gridCol w="882149">
                  <a:extLst>
                    <a:ext uri="{9D8B030D-6E8A-4147-A177-3AD203B41FA5}">
                      <a16:colId xmlns:a16="http://schemas.microsoft.com/office/drawing/2014/main" val="3579120835"/>
                    </a:ext>
                  </a:extLst>
                </a:gridCol>
                <a:gridCol w="614332">
                  <a:extLst>
                    <a:ext uri="{9D8B030D-6E8A-4147-A177-3AD203B41FA5}">
                      <a16:colId xmlns:a16="http://schemas.microsoft.com/office/drawing/2014/main" val="3887253070"/>
                    </a:ext>
                  </a:extLst>
                </a:gridCol>
                <a:gridCol w="1042405">
                  <a:extLst>
                    <a:ext uri="{9D8B030D-6E8A-4147-A177-3AD203B41FA5}">
                      <a16:colId xmlns:a16="http://schemas.microsoft.com/office/drawing/2014/main" val="3494850536"/>
                    </a:ext>
                  </a:extLst>
                </a:gridCol>
                <a:gridCol w="885053">
                  <a:extLst>
                    <a:ext uri="{9D8B030D-6E8A-4147-A177-3AD203B41FA5}">
                      <a16:colId xmlns:a16="http://schemas.microsoft.com/office/drawing/2014/main" val="1398302754"/>
                    </a:ext>
                  </a:extLst>
                </a:gridCol>
                <a:gridCol w="934230">
                  <a:extLst>
                    <a:ext uri="{9D8B030D-6E8A-4147-A177-3AD203B41FA5}">
                      <a16:colId xmlns:a16="http://schemas.microsoft.com/office/drawing/2014/main" val="2365407876"/>
                    </a:ext>
                  </a:extLst>
                </a:gridCol>
                <a:gridCol w="1062076">
                  <a:extLst>
                    <a:ext uri="{9D8B030D-6E8A-4147-A177-3AD203B41FA5}">
                      <a16:colId xmlns:a16="http://schemas.microsoft.com/office/drawing/2014/main" val="60379948"/>
                    </a:ext>
                  </a:extLst>
                </a:gridCol>
                <a:gridCol w="934230">
                  <a:extLst>
                    <a:ext uri="{9D8B030D-6E8A-4147-A177-3AD203B41FA5}">
                      <a16:colId xmlns:a16="http://schemas.microsoft.com/office/drawing/2014/main" val="3250212075"/>
                    </a:ext>
                  </a:extLst>
                </a:gridCol>
                <a:gridCol w="717880">
                  <a:extLst>
                    <a:ext uri="{9D8B030D-6E8A-4147-A177-3AD203B41FA5}">
                      <a16:colId xmlns:a16="http://schemas.microsoft.com/office/drawing/2014/main" val="135013536"/>
                    </a:ext>
                  </a:extLst>
                </a:gridCol>
              </a:tblGrid>
              <a:tr h="635527">
                <a:tc>
                  <a:txBody>
                    <a:bodyPr/>
                    <a:lstStyle/>
                    <a:p>
                      <a:pPr marL="0" marR="0" lvl="0" indent="0" algn="ctr" rtl="0"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Feature / Capability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PayJoy – Maccio 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NuovoPay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Datacultr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Odoo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Aft>
                          <a:spcPts val="80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FQMS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Trustonic 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ChargeAfter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buNone/>
                      </a:pPr>
                      <a:r>
                        <a:rPr lang="en-US" sz="1200" b="1" i="0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ERPNext </a:t>
                      </a:r>
                      <a:endParaRPr lang="en-US" sz="900" b="1" i="0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844198"/>
                  </a:ext>
                </a:extLst>
              </a:tr>
              <a:tr h="635527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Automated Installment Ledgers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 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 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 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 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 </a:t>
                      </a: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✓ </a:t>
                      </a:r>
                    </a:p>
                    <a:p>
                      <a:pPr marL="0" marR="0" lvl="0" indent="0" 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487430"/>
                  </a:ext>
                </a:extLst>
              </a:tr>
              <a:tr h="787289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Post-Sale MDM Device Locking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 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 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 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 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155516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Mobile notification Alerts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Add on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344139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Integration of sales tax with FBR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Add on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490304"/>
                  </a:ext>
                </a:extLst>
              </a:tr>
              <a:tr h="635527"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Supports Non- Smart Stock (Furniture, ACs)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 -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 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 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✓ </a:t>
                      </a:r>
                      <a:endParaRPr lang="en-US" sz="9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6951" marR="66951" marT="45911" marB="45911">
                    <a:lnL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764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698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Rules</a:t>
            </a:r>
            <a:endParaRPr/>
          </a:p>
        </p:txBody>
      </p:sp>
      <p:graphicFrame>
        <p:nvGraphicFramePr>
          <p:cNvPr id="147" name="Google Shape;147;p16"/>
          <p:cNvGraphicFramePr/>
          <p:nvPr>
            <p:extLst>
              <p:ext uri="{D42A27DB-BD31-4B8C-83A1-F6EECF244321}">
                <p14:modId xmlns:p14="http://schemas.microsoft.com/office/powerpoint/2010/main" val="2666793947"/>
              </p:ext>
            </p:extLst>
          </p:nvPr>
        </p:nvGraphicFramePr>
        <p:xfrm>
          <a:off x="457200" y="1383014"/>
          <a:ext cx="8229600" cy="4499102"/>
        </p:xfrm>
        <a:graphic>
          <a:graphicData uri="http://schemas.openxmlformats.org/drawingml/2006/table">
            <a:tbl>
              <a:tblPr firstRow="1" bandRow="1">
                <a:noFill/>
                <a:tableStyleId>{9321EDAF-7F3C-46AB-9279-067C1E24632B}</a:tableStyleId>
              </a:tblPr>
              <a:tblGrid>
                <a:gridCol w="139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Element</a:t>
                      </a:r>
                      <a:endParaRPr sz="1800" dirty="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800" dirty="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Problem</a:t>
                      </a:r>
                      <a:endParaRPr sz="1800" dirty="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Char char="●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Branch data operators must manually remember, verify, and enforce operational policies (e.g., minimum down payments, and tenure limits).</a:t>
                      </a:r>
                      <a:endParaRPr sz="1600" dirty="0">
                        <a:solidFill>
                          <a:srgbClr val="000000"/>
                        </a:solidFill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Char char="●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Different software fails to automatically validate and enforce these business rules.</a:t>
                      </a:r>
                      <a:endParaRPr sz="1600" dirty="0">
                        <a:solidFill>
                          <a:srgbClr val="000000"/>
                        </a:solidFill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Affects</a:t>
                      </a:r>
                      <a:endParaRPr sz="1800" dirty="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Tenant Employee, Tenant owner</a:t>
                      </a:r>
                      <a:endParaRPr sz="1600" dirty="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Result of which</a:t>
                      </a:r>
                      <a:endParaRPr sz="1800" dirty="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Char char="●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Creates major operational delays and manual checking overhead during customer checkout.</a:t>
                      </a:r>
                      <a:endParaRPr sz="1600" dirty="0">
                        <a:solidFill>
                          <a:srgbClr val="000000"/>
                        </a:solidFill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Char char="●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Leads to critical human errors, unauthorized exceptions, and direct revenue loss due to policy violations.</a:t>
                      </a:r>
                      <a:endParaRPr sz="1600" dirty="0">
                        <a:solidFill>
                          <a:srgbClr val="000000"/>
                        </a:solidFill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Benefits of</a:t>
                      </a:r>
                      <a:endParaRPr sz="1800" dirty="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Char char="●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Allows the business owner to centrally configure custom credit and installment policies across all branches.</a:t>
                      </a:r>
                      <a:endParaRPr sz="1600" dirty="0">
                        <a:solidFill>
                          <a:srgbClr val="000000"/>
                        </a:solidFill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Char char="●"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Automatically validates customer applications and blocks non-compliant transactions at runtime without relying on manual operator.</a:t>
                      </a:r>
                      <a:endParaRPr sz="1600" dirty="0">
                        <a:solidFill>
                          <a:srgbClr val="000000"/>
                        </a:solidFill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MDM locking App</a:t>
            </a:r>
            <a:endParaRPr/>
          </a:p>
        </p:txBody>
      </p:sp>
      <p:graphicFrame>
        <p:nvGraphicFramePr>
          <p:cNvPr id="153" name="Google Shape;153;p15"/>
          <p:cNvGraphicFramePr/>
          <p:nvPr>
            <p:extLst>
              <p:ext uri="{D42A27DB-BD31-4B8C-83A1-F6EECF244321}">
                <p14:modId xmlns:p14="http://schemas.microsoft.com/office/powerpoint/2010/main" val="1987161044"/>
              </p:ext>
            </p:extLst>
          </p:nvPr>
        </p:nvGraphicFramePr>
        <p:xfrm>
          <a:off x="457200" y="1600200"/>
          <a:ext cx="8229599" cy="3926840"/>
        </p:xfrm>
        <a:graphic>
          <a:graphicData uri="http://schemas.openxmlformats.org/drawingml/2006/table">
            <a:tbl>
              <a:tblPr firstRow="1" bandRow="1">
                <a:noFill/>
                <a:tableStyleId>{9321EDAF-7F3C-46AB-9279-067C1E24632B}</a:tableStyleId>
              </a:tblPr>
              <a:tblGrid>
                <a:gridCol w="2045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4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Element</a:t>
                      </a:r>
                      <a:endParaRPr sz="1800" dirty="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800" dirty="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Problem</a:t>
                      </a:r>
                      <a:endParaRPr sz="1800" dirty="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4572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Char char="●"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Owners have zero leverage to enforce monthly payments after the product leaves the shop.</a:t>
                      </a:r>
                      <a:endParaRPr sz="1800" dirty="0">
                        <a:solidFill>
                          <a:srgbClr val="000000"/>
                        </a:solidFill>
                      </a:endParaRPr>
                    </a:p>
                    <a:p>
                      <a:pPr marL="4572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Char char="●"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The financed hardware cannot be tracked or  recovered once the customer leaves the shop.</a:t>
                      </a:r>
                      <a:endParaRPr sz="1800" dirty="0">
                        <a:solidFill>
                          <a:srgbClr val="000000"/>
                        </a:solidFill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Affects</a:t>
                      </a:r>
                      <a:endParaRPr sz="1800" dirty="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Shop Owner</a:t>
                      </a:r>
                      <a:endParaRPr sz="1800" dirty="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Result of which</a:t>
                      </a:r>
                      <a:endParaRPr sz="1800" dirty="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Increases bad debts and forces reliance on manual phone calls or field inquiry officers.</a:t>
                      </a:r>
                      <a:endParaRPr sz="1800" dirty="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Benefits of</a:t>
                      </a:r>
                      <a:endParaRPr sz="1800" dirty="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Connects to the ERP via API to automatically lock a financed device if an installment deadline is missed.</a:t>
                      </a:r>
                      <a:endParaRPr sz="1800" dirty="0">
                        <a:solidFill>
                          <a:srgbClr val="000000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Triggers the kiosk/screen lock or disable device functionality automatically if installment deadline is missed.</a:t>
                      </a:r>
                      <a:endParaRPr sz="1800" dirty="0">
                        <a:solidFill>
                          <a:srgbClr val="000000"/>
                        </a:solidFill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AI Risk Analyzer</a:t>
            </a:r>
            <a:endParaRPr dirty="0"/>
          </a:p>
        </p:txBody>
      </p:sp>
      <p:graphicFrame>
        <p:nvGraphicFramePr>
          <p:cNvPr id="159" name="Google Shape;159;p14"/>
          <p:cNvGraphicFramePr/>
          <p:nvPr>
            <p:extLst>
              <p:ext uri="{D42A27DB-BD31-4B8C-83A1-F6EECF244321}">
                <p14:modId xmlns:p14="http://schemas.microsoft.com/office/powerpoint/2010/main" val="1829746464"/>
              </p:ext>
            </p:extLst>
          </p:nvPr>
        </p:nvGraphicFramePr>
        <p:xfrm>
          <a:off x="457200" y="1589584"/>
          <a:ext cx="8229600" cy="3839718"/>
        </p:xfrm>
        <a:graphic>
          <a:graphicData uri="http://schemas.openxmlformats.org/drawingml/2006/table">
            <a:tbl>
              <a:tblPr firstRow="1" bandRow="1">
                <a:noFill/>
                <a:tableStyleId>{9321EDAF-7F3C-46AB-9279-067C1E24632B}</a:tableStyleId>
              </a:tblPr>
              <a:tblGrid>
                <a:gridCol w="210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Element</a:t>
                      </a:r>
                      <a:endParaRPr sz="1800" dirty="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800" dirty="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Problem</a:t>
                      </a:r>
                      <a:endParaRPr sz="1800" dirty="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Customers buying on installments are often “thin-file”, lacking formal credit bank scoring.</a:t>
                      </a:r>
                      <a:endParaRPr sz="1800" dirty="0">
                        <a:solidFill>
                          <a:srgbClr val="000000"/>
                        </a:solidFill>
                      </a:endParaRPr>
                    </a:p>
                    <a:p>
                      <a:pPr marL="457200" lvl="0" indent="-342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Shop owners are forced to rely on subjective "gut feelings" and the unstandardized emotional analysis of store managers</a:t>
                      </a:r>
                      <a:endParaRPr sz="1800" dirty="0">
                        <a:solidFill>
                          <a:srgbClr val="000000"/>
                        </a:solidFill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Affects</a:t>
                      </a:r>
                      <a:endParaRPr sz="1800" dirty="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Owner,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Tenant Manager</a:t>
                      </a:r>
                      <a:endParaRPr sz="1800" dirty="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Result of which</a:t>
                      </a:r>
                      <a:endParaRPr sz="1800" dirty="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owners rely on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</a:rPr>
                        <a:t>manager’s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analysis leading to high financial risk.</a:t>
                      </a:r>
                      <a:endParaRPr sz="1800" dirty="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Benefits of</a:t>
                      </a:r>
                      <a:endParaRPr sz="1800" dirty="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Evaluates thin-file customers using local behavioral and demographic data before the sale is approved.</a:t>
                      </a:r>
                      <a:endParaRPr sz="1800" dirty="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PROPOSED SOLUTION</a:t>
            </a:r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a6dfb2a8e_1_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Rules</a:t>
            </a:r>
            <a:endParaRPr/>
          </a:p>
        </p:txBody>
      </p:sp>
      <p:sp>
        <p:nvSpPr>
          <p:cNvPr id="171" name="Google Shape;171;g3fa6dfb2a8e_1_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The tenant owner will have a separate administrative mobile or desktop application.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Owner can define internal organizational rules, such as purchase limits or employee bonus.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The system will automatically validate and enforces these rules during the sale.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a6dfb2a8e_1_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MDM locking App</a:t>
            </a:r>
            <a:endParaRPr/>
          </a:p>
        </p:txBody>
      </p:sp>
      <p:sp>
        <p:nvSpPr>
          <p:cNvPr id="177" name="Google Shape;177;g3fa6dfb2a8e_1_27"/>
          <p:cNvSpPr txBox="1">
            <a:spLocks noGrp="1"/>
          </p:cNvSpPr>
          <p:nvPr>
            <p:ph type="body" idx="1"/>
          </p:nvPr>
        </p:nvSpPr>
        <p:spPr>
          <a:xfrm>
            <a:off x="210250" y="1460887"/>
            <a:ext cx="87234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12750" algn="l" rtl="0">
              <a:spcBef>
                <a:spcPts val="360"/>
              </a:spcBef>
              <a:spcAft>
                <a:spcPts val="0"/>
              </a:spcAft>
              <a:buSzPts val="2900"/>
              <a:buChar char="•"/>
            </a:pPr>
            <a:r>
              <a:rPr lang="en-US" sz="2900"/>
              <a:t>There will be a specialized Device Policy Controller app that will remotely lock financed smartphones if installment deadline is missed.</a:t>
            </a:r>
            <a:endParaRPr sz="2900"/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2900"/>
              <a:t>It will be installed while initial setup of phone with administrator level permissions to prevent unauthorized uninstallation.</a:t>
            </a:r>
            <a:endParaRPr sz="2900"/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2900"/>
              <a:t>It runs a background service that verify the installment statuses and enforces an instant lock if payment is late.</a:t>
            </a:r>
            <a:endParaRPr sz="2900"/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•"/>
            </a:pPr>
            <a:r>
              <a:rPr lang="en-US" sz="2900"/>
              <a:t>It will be offered as optional module.</a:t>
            </a:r>
            <a:endParaRPr sz="2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a6dfb2a8e_1_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AI Risk Analyzer</a:t>
            </a:r>
            <a:endParaRPr dirty="0"/>
          </a:p>
        </p:txBody>
      </p:sp>
      <p:sp>
        <p:nvSpPr>
          <p:cNvPr id="183" name="Google Shape;183;g3fa6dfb2a8e_1_32"/>
          <p:cNvSpPr txBox="1">
            <a:spLocks noGrp="1"/>
          </p:cNvSpPr>
          <p:nvPr>
            <p:ph type="body" idx="1"/>
          </p:nvPr>
        </p:nvSpPr>
        <p:spPr>
          <a:xfrm>
            <a:off x="291300" y="1346904"/>
            <a:ext cx="85614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0200" algn="l" rtl="0">
              <a:spcBef>
                <a:spcPts val="360"/>
              </a:spcBef>
              <a:spcAft>
                <a:spcPts val="0"/>
              </a:spcAft>
              <a:buSzPts val="1600"/>
              <a:buChar char="●"/>
            </a:pPr>
            <a:r>
              <a:rPr lang="en-US" sz="3000"/>
              <a:t>A trained model on historical customer demographic and installment repayment records to identity the default patterns.</a:t>
            </a:r>
            <a:endParaRPr sz="30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3000"/>
              <a:t>Automatically evaluates the new customer’s application, and classify into distinct credit risk levels.</a:t>
            </a:r>
            <a:endParaRPr sz="30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3000"/>
              <a:t>Periodically retrained on new fresh transactions and to maintain accuracy and adapt market trends.</a:t>
            </a:r>
            <a:endParaRPr sz="30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3000"/>
              <a:t>Optional module, can be enabled based on organization’s need</a:t>
            </a:r>
            <a:endParaRPr sz="3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PROJECT SCOPE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Scope</a:t>
            </a:r>
            <a:endParaRPr/>
          </a:p>
        </p:txBody>
      </p:sp>
      <p:sp>
        <p:nvSpPr>
          <p:cNvPr id="195" name="Google Shape;195;p20"/>
          <p:cNvSpPr txBox="1">
            <a:spLocks noGrp="1"/>
          </p:cNvSpPr>
          <p:nvPr>
            <p:ph type="body" idx="1"/>
          </p:nvPr>
        </p:nvSpPr>
        <p:spPr>
          <a:xfrm>
            <a:off x="457200" y="143567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The centralized super admin portal to manage multi-tenants.</a:t>
            </a:r>
            <a:endParaRPr sz="2400" dirty="0"/>
          </a:p>
          <a:p>
            <a:pPr marL="342900">
              <a:spcBef>
                <a:spcPts val="0"/>
              </a:spcBef>
              <a:buSzPts val="2400"/>
            </a:pPr>
            <a:r>
              <a:rPr lang="en-US" sz="2400" dirty="0"/>
              <a:t>Multi-branch stock tracking supporting both electronic and non-support items.</a:t>
            </a:r>
            <a:endParaRPr sz="24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/>
              <a:t>Store the record of employees, their attendance and daily expense for each branch.</a:t>
            </a:r>
            <a:endParaRPr sz="2400" dirty="0"/>
          </a:p>
          <a:p>
            <a:pPr marL="342900">
              <a:spcBef>
                <a:spcPts val="0"/>
              </a:spcBef>
              <a:buSzPts val="2400"/>
            </a:pPr>
            <a:r>
              <a:rPr lang="en-US" sz="2400" dirty="0"/>
              <a:t>Manage the suppliers, their ledger, inventory, purchase and sale.</a:t>
            </a:r>
            <a:endParaRPr sz="240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/>
              <a:t>Manage Products list, different customized installment plans for each product.</a:t>
            </a:r>
            <a:endParaRPr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Scope</a:t>
            </a:r>
            <a:endParaRPr/>
          </a:p>
        </p:txBody>
      </p:sp>
      <p:sp>
        <p:nvSpPr>
          <p:cNvPr id="201" name="Google Shape;201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>
              <a:spcBef>
                <a:spcPts val="0"/>
              </a:spcBef>
              <a:buSzPts val="2400"/>
              <a:buFont typeface="Arial,Sans-Serif"/>
            </a:pPr>
            <a:r>
              <a:rPr lang="en-US" sz="2400" dirty="0"/>
              <a:t>Manage customers, their opened and closed accounts.</a:t>
            </a:r>
          </a:p>
          <a:p>
            <a:pPr marL="342900" lvl="0" indent="-3429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Manage multiple guarantor for each sale.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/>
              <a:t>Impose organization internal rules.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/>
              <a:t>The admin should be able to activate or deactivate any add-on module for any tenant.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/>
              <a:t>AI risk analyzer to classify risk at different categories.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/>
              <a:t>MDM mobile locking app.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 dirty="0"/>
              <a:t>Real time branch synchronization.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21</Slides>
  <Notes>21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Final Year Project Proposal</vt:lpstr>
      <vt:lpstr>Project Team</vt:lpstr>
      <vt:lpstr>Table of Content</vt:lpstr>
      <vt:lpstr>OPPORTUNITY &amp; STAKEHOLDERS</vt:lpstr>
      <vt:lpstr>Opportunity</vt:lpstr>
      <vt:lpstr>Opportunity</vt:lpstr>
      <vt:lpstr>Stakeholders</vt:lpstr>
      <vt:lpstr>EXISTING SYSTEMS</vt:lpstr>
      <vt:lpstr>Existing Systems </vt:lpstr>
      <vt:lpstr>Existing Systems </vt:lpstr>
      <vt:lpstr>PROBLEM STATEMENT</vt:lpstr>
      <vt:lpstr>Business Rules</vt:lpstr>
      <vt:lpstr>MDM locking App</vt:lpstr>
      <vt:lpstr>AI Risk Analyzer</vt:lpstr>
      <vt:lpstr>PROPOSED SOLUTION</vt:lpstr>
      <vt:lpstr>Business Rules</vt:lpstr>
      <vt:lpstr>MDM locking App</vt:lpstr>
      <vt:lpstr>AI Risk Analyzer</vt:lpstr>
      <vt:lpstr>PROJECT SCOPE</vt:lpstr>
      <vt:lpstr>Project Scope</vt:lpstr>
      <vt:lpstr>Project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Khan</dc:creator>
  <cp:revision>110</cp:revision>
  <dcterms:created xsi:type="dcterms:W3CDTF">2013-01-22T07:04:44Z</dcterms:created>
  <dcterms:modified xsi:type="dcterms:W3CDTF">2026-09-27T10:41:34Z</dcterms:modified>
</cp:coreProperties>
</file>